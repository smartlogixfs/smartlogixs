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E4976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1D457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ADD4"/>
                </a:solidFill>
              </a:rPr>
              <a:t>SmartLogix · EV2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SmartLogix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303520" cy="0"/>
          </a:xfrm>
          <a:prstGeom prst="line">
            <a:avLst/>
          </a:prstGeom>
          <a:noFill/>
          <a:ln w="25400">
            <a:solidFill>
              <a:srgbClr val="2E6D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48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EC8E3"/>
                </a:solidFill>
              </a:rPr>
              <a:t>Plataforma logística para PYMEs eCommerce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Evaluación Parcial N°2 — DSY1106 Desarrollo Fullstack III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FD4"/>
                </a:solidFill>
              </a:rPr>
              <a:t>Implementación de componentes Frontend y Backend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BFD4"/>
                </a:solidFill>
              </a:rPr>
              <a:t>Equipo SmartLogix · Mayo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7FA5"/>
                </a:solidFill>
              </a:rPr>
              <a:t>DSY1106 Desarrollo Fullstack III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D4"/>
                </a:solidFill>
              </a:rPr>
              <a:t>SmartLogix · EV2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FD4"/>
                </a:solidFill>
              </a:rPr>
              <a:t>DSY1106 Desarrollo Fullstack III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64008" cy="5029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20624"/>
            <a:ext cx="8321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</a:rPr>
              <a:t>Agenda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9875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8"/>
                </a:solidFill>
              </a:rPr>
              <a:t>15 minutos · turno individual de preguntas al final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0"/>
          </a:xfrm>
          <a:prstGeom prst="line">
            <a:avLst/>
          </a:prstGeom>
          <a:noFill/>
          <a:ln w="12700">
            <a:solidFill>
              <a:srgbClr val="D0D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34440"/>
            <a:ext cx="84124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234440"/>
            <a:ext cx="384048" cy="356616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234440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1271016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Contexto del proyecto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0" y="1271016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D5066"/>
                </a:solidFill>
              </a:rPr>
              <a:t>qué resolvemos y para quién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627632"/>
            <a:ext cx="8412480" cy="356616"/>
          </a:xfrm>
          <a:prstGeom prst="rect">
            <a:avLst/>
          </a:prstGeom>
          <a:solidFill>
            <a:srgbClr val="EEF3F8"/>
          </a:solidFill>
          <a:ln w="6350">
            <a:solidFill>
              <a:srgbClr val="D8E4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1627632"/>
            <a:ext cx="384048" cy="356616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1627632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" y="166420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Arquitectura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0" y="1664208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D5066"/>
                </a:solidFill>
              </a:rPr>
              <a:t>diagrama de contenedores, topología, flujos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020824"/>
            <a:ext cx="84124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020824"/>
            <a:ext cx="384048" cy="356616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020824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205740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Patrones arquitectónicos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23360" y="2057400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D5066"/>
                </a:solidFill>
              </a:rPr>
              <a:t>los 5 patrones que sostienen el sistema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414016"/>
            <a:ext cx="8412480" cy="356616"/>
          </a:xfrm>
          <a:prstGeom prst="rect">
            <a:avLst/>
          </a:prstGeom>
          <a:solidFill>
            <a:srgbClr val="EEF3F8"/>
          </a:solidFill>
          <a:ln w="6350">
            <a:solidFill>
              <a:srgbClr val="D8E4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414016"/>
            <a:ext cx="384048" cy="356616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2414016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" y="245059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Patrones de diseño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023360" y="2450592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D5066"/>
                </a:solidFill>
              </a:rPr>
              <a:t>10+ patrones de código, qué problema resuelven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2807208"/>
            <a:ext cx="84124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2807208"/>
            <a:ext cx="384048" cy="356616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2807208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4672" y="284378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Arquetipo: Gradle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023360" y="2843784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D5066"/>
                </a:solidFill>
              </a:rPr>
              <a:t>template reutilizable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200400"/>
            <a:ext cx="8412480" cy="356616"/>
          </a:xfrm>
          <a:prstGeom prst="rect">
            <a:avLst/>
          </a:prstGeom>
          <a:solidFill>
            <a:srgbClr val="EEF3F8"/>
          </a:solidFill>
          <a:ln w="6350">
            <a:solidFill>
              <a:srgbClr val="D8E4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3200400"/>
            <a:ext cx="384048" cy="356616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3200400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4672" y="3236976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Estrategia de branching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023360" y="3236976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D5066"/>
                </a:solidFill>
              </a:rPr>
              <a:t>GitFlow simplificado + evidencia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3593592"/>
            <a:ext cx="84124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3593592"/>
            <a:ext cx="384048" cy="356616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3593592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04672" y="363016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Pruebas y cobertura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023360" y="3630168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D5066"/>
                </a:solidFill>
              </a:rPr>
              <a:t>JUnit + Mockito + WebMvcTest + JaCoCo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3986784"/>
            <a:ext cx="8412480" cy="356616"/>
          </a:xfrm>
          <a:prstGeom prst="rect">
            <a:avLst/>
          </a:prstGeom>
          <a:solidFill>
            <a:srgbClr val="EEF3F8"/>
          </a:solidFill>
          <a:ln w="6350">
            <a:solidFill>
              <a:srgbClr val="D8E4E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3986784"/>
            <a:ext cx="384048" cy="356616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3986784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04672" y="402336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Conclusiones y próximos pasos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6576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ADD4"/>
                </a:solidFill>
              </a:rPr>
              <a:t>Mapea a ítems 1–8 de la rúbrica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D4"/>
                </a:solidFill>
              </a:rPr>
              <a:t>SmartLogix · EV2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FD4"/>
                </a:solidFill>
              </a:rPr>
              <a:t>DSY1106 Desarrollo Fullstack III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64008" cy="5029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20624"/>
            <a:ext cx="8321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</a:rPr>
              <a:t>1. Contexto del proyecto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9875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8"/>
                </a:solidFill>
              </a:rPr>
              <a:t>Contexto general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0"/>
          </a:xfrm>
          <a:prstGeom prst="line">
            <a:avLst/>
          </a:prstGeom>
          <a:noFill/>
          <a:ln w="12700">
            <a:solidFill>
              <a:srgbClr val="D0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34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33"/>
                </a:solidFill>
              </a:rPr>
              <a:t>Problema: </a:t>
            </a:r>
            <a:pPr indent="0" marL="0">
              <a:buNone/>
            </a:pPr>
            <a:r>
              <a:rPr lang="en-US" sz="1100" dirty="0">
                <a:solidFill>
                  <a:srgbClr val="1A2533"/>
                </a:solidFill>
              </a:rPr>
              <a:t>PYMEs eCommerce coordinan pedidos, inventario y envíos en hojas de cálculo o monolitos rígidos. Cualquier cambio (nuevo marketplace, nueva bodega, nuevo courier) implica downtime y refactor.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8745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</a:rPr>
              <a:t>Solución SmartLogix: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2267712"/>
            <a:ext cx="109728" cy="109728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17627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Tres dominios desacoplados</a:t>
            </a:r>
            <a:pPr indent="0" marL="0">
              <a:buNone/>
            </a:pPr>
            <a:r>
              <a:rPr lang="en-US" sz="1100" dirty="0">
                <a:solidFill>
                  <a:srgbClr val="1A2533"/>
                </a:solidFill>
              </a:rPr>
              <a:t> — pedidos, inventario, envíos — cada uno con su propia DB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2651760"/>
            <a:ext cx="109728" cy="109728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56032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API optimizada por pantalla</a:t>
            </a:r>
            <a:pPr indent="0" marL="0">
              <a:buNone/>
            </a:pPr>
            <a:r>
              <a:rPr lang="en-US" sz="1100" dirty="0">
                <a:solidFill>
                  <a:srgbClr val="1A2533"/>
                </a:solidFill>
              </a:rPr>
              <a:t> vía BFF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3035808"/>
            <a:ext cx="109728" cy="109728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94436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Gateway con políticas declarativas</a:t>
            </a:r>
            <a:pPr indent="0" marL="0">
              <a:buNone/>
            </a:pPr>
            <a:r>
              <a:rPr lang="en-US" sz="1100" dirty="0">
                <a:solidFill>
                  <a:srgbClr val="1A2533"/>
                </a:solidFill>
              </a:rPr>
              <a:t> (rate limit, JWT, CORS) separado del Ingress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" y="3419856"/>
            <a:ext cx="109728" cy="109728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328416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Frontend SPA</a:t>
            </a:r>
            <a:pPr indent="0" marL="0">
              <a:buNone/>
            </a:pPr>
            <a:r>
              <a:rPr lang="en-US" sz="1100" dirty="0">
                <a:solidFill>
                  <a:srgbClr val="1A2533"/>
                </a:solidFill>
              </a:rPr>
              <a:t> que solo conoce al BFF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8412480" cy="411480"/>
          </a:xfrm>
          <a:prstGeom prst="rect">
            <a:avLst/>
          </a:prstGeom>
          <a:solidFill>
            <a:srgbClr val="EEF3F8"/>
          </a:solidFill>
          <a:ln w="10160">
            <a:solidFill>
              <a:srgbClr val="C5D5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749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</a:rPr>
              <a:t>Stack: </a:t>
            </a:r>
            <a:pPr indent="0" marL="0">
              <a:buNone/>
            </a:pPr>
            <a:r>
              <a:rPr lang="en-US" sz="1050" dirty="0">
                <a:solidFill>
                  <a:srgbClr val="3D5066"/>
                </a:solidFill>
              </a:rPr>
              <a:t>React 19 · Node.js 20 · Spring Boot 4 / Java 25 · PostgreSQL 16 · KrakenD · Traefik · Docker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D4"/>
                </a:solidFill>
              </a:rPr>
              <a:t>SmartLogix · EV2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FD4"/>
                </a:solidFill>
              </a:rPr>
              <a:t>DSY1106 Desarrollo Fullstack III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64008" cy="5029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20624"/>
            <a:ext cx="8321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</a:rPr>
              <a:t>2. Arquitectura — Diagrama de contenedores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9875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8"/>
                </a:solidFill>
              </a:rPr>
              <a:t>Ítems 2 y 6 — arquetipos y patrones arquitectónicos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0"/>
          </a:xfrm>
          <a:prstGeom prst="line">
            <a:avLst/>
          </a:prstGeom>
          <a:noFill/>
          <a:ln w="12700">
            <a:solidFill>
              <a:srgbClr val="D0D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34440"/>
            <a:ext cx="4023360" cy="3200400"/>
          </a:xfrm>
          <a:prstGeom prst="rect">
            <a:avLst/>
          </a:prstGeom>
          <a:solidFill>
            <a:srgbClr val="DDE9F5"/>
          </a:solidFill>
          <a:ln w="12700">
            <a:solidFill>
              <a:srgbClr val="A8C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801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4A7090"/>
                </a:solidFill>
              </a:rPr>
              <a:t>red: web (pública)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234440"/>
            <a:ext cx="4023360" cy="32004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C8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2801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4A7090"/>
                </a:solidFill>
              </a:rPr>
              <a:t>red: internal (privada)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1645920"/>
            <a:ext cx="914400" cy="640080"/>
          </a:xfrm>
          <a:prstGeom prst="rect">
            <a:avLst/>
          </a:prstGeom>
          <a:solidFill>
            <a:srgbClr val="2E6DA4"/>
          </a:solidFill>
          <a:ln w="6350">
            <a:solidFill>
              <a:srgbClr val="1A518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16459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Traefik v3.5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Ingress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554480" y="1645920"/>
            <a:ext cx="914400" cy="640080"/>
          </a:xfrm>
          <a:prstGeom prst="rect">
            <a:avLst/>
          </a:prstGeom>
          <a:solidFill>
            <a:srgbClr val="2E6DA4"/>
          </a:solidFill>
          <a:ln w="6350">
            <a:solidFill>
              <a:srgbClr val="1A518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554480" y="16459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Frontend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React 19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2743200"/>
            <a:ext cx="914400" cy="640080"/>
          </a:xfrm>
          <a:prstGeom prst="rect">
            <a:avLst/>
          </a:prstGeom>
          <a:solidFill>
            <a:srgbClr val="2E6DA4"/>
          </a:solidFill>
          <a:ln w="6350">
            <a:solidFill>
              <a:srgbClr val="1A518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2743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KrakenD v2.10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API Gateway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554480" y="2743200"/>
            <a:ext cx="914400" cy="640080"/>
          </a:xfrm>
          <a:prstGeom prst="rect">
            <a:avLst/>
          </a:prstGeom>
          <a:solidFill>
            <a:srgbClr val="2E6DA4"/>
          </a:solidFill>
          <a:ln w="6350">
            <a:solidFill>
              <a:srgbClr val="1A518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554480" y="2743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BFF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Node.js 20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92040" y="1600200"/>
            <a:ext cx="1005840" cy="548640"/>
          </a:xfrm>
          <a:prstGeom prst="rect">
            <a:avLst/>
          </a:prstGeom>
          <a:solidFill>
            <a:srgbClr val="2E7D32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6002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ms-pedido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035040" y="1600200"/>
            <a:ext cx="1005840" cy="548640"/>
          </a:xfrm>
          <a:prstGeom prst="rect">
            <a:avLst/>
          </a:prstGeom>
          <a:solidFill>
            <a:srgbClr val="2E7D32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16002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ms-inventario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78040" y="1600200"/>
            <a:ext cx="1005840" cy="548640"/>
          </a:xfrm>
          <a:prstGeom prst="rect">
            <a:avLst/>
          </a:prstGeom>
          <a:solidFill>
            <a:srgbClr val="2E7D32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16002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ms-envio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92040" y="2651760"/>
            <a:ext cx="1005840" cy="548640"/>
          </a:xfrm>
          <a:prstGeom prst="rect">
            <a:avLst/>
          </a:prstGeom>
          <a:solidFill>
            <a:srgbClr val="1565C0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6517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db-pedido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035040" y="2651760"/>
            <a:ext cx="1005840" cy="548640"/>
          </a:xfrm>
          <a:prstGeom prst="rect">
            <a:avLst/>
          </a:prstGeom>
          <a:solidFill>
            <a:srgbClr val="1565C0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6517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db-inventario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178040" y="2651760"/>
            <a:ext cx="1005840" cy="548640"/>
          </a:xfrm>
          <a:prstGeom prst="rect">
            <a:avLst/>
          </a:prstGeom>
          <a:solidFill>
            <a:srgbClr val="1565C0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8040" y="26517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db-envio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-45720" y="2011680"/>
            <a:ext cx="640080" cy="64008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-45720" y="26974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A5C"/>
                </a:solidFill>
              </a:rPr>
              <a:t>Usuario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65760" y="45262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D5066"/>
                </a:solidFill>
              </a:rPr>
              <a:t>Dos redes Docker: web (pública) y internal — las DBs nunca son alcanzables desde Internet.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D4"/>
                </a:solidFill>
              </a:rPr>
              <a:t>SmartLogix · EV2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FD4"/>
                </a:solidFill>
              </a:rPr>
              <a:t>DSY1106 Desarrollo Fullstack III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64008" cy="5029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20624"/>
            <a:ext cx="8321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</a:rPr>
              <a:t>3. Patrones arquitectónicos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9875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8"/>
                </a:solidFill>
              </a:rPr>
              <a:t>Ítem 6 (defensa) · 20%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0"/>
          </a:xfrm>
          <a:prstGeom prst="line">
            <a:avLst/>
          </a:prstGeom>
          <a:noFill/>
          <a:ln w="12700">
            <a:solidFill>
              <a:srgbClr val="D0D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34440"/>
            <a:ext cx="1737360" cy="3657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234440"/>
            <a:ext cx="17373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Patrón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1234440"/>
            <a:ext cx="2560320" cy="3657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1234440"/>
            <a:ext cx="25603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Dónde se ve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4114800" cy="3657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Problema que resuelve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600200"/>
            <a:ext cx="1737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600200"/>
            <a:ext cx="16459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Microservicios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03120" y="160020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160020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3"/>
                </a:solidFill>
              </a:rPr>
              <a:t>3 MS Spring Boot independientes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60020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600200"/>
            <a:ext cx="40233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3"/>
                </a:solidFill>
              </a:rPr>
              <a:t>Despliegue por dominio, sin acoplar releases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103120"/>
            <a:ext cx="1737360" cy="502920"/>
          </a:xfrm>
          <a:prstGeom prst="rect">
            <a:avLst/>
          </a:prstGeom>
          <a:solidFill>
            <a:srgbClr val="EEF3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103120"/>
            <a:ext cx="16459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Database per Service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03120" y="2103120"/>
            <a:ext cx="2560320" cy="502920"/>
          </a:xfrm>
          <a:prstGeom prst="rect">
            <a:avLst/>
          </a:prstGeom>
          <a:solidFill>
            <a:srgbClr val="EEF3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4884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3"/>
                </a:solidFill>
              </a:rPr>
              <a:t>db-pedido, db-inventario, db-envio aisladas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103120"/>
            <a:ext cx="4114800" cy="502920"/>
          </a:xfrm>
          <a:prstGeom prst="rect">
            <a:avLst/>
          </a:prstGeom>
          <a:solidFill>
            <a:srgbClr val="EEF3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103120"/>
            <a:ext cx="40233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3"/>
                </a:solidFill>
              </a:rPr>
              <a:t>Cada equipo evoluciona su schema sin coordinar; FKs cruzadas reemplazadas por IDs lógicos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2606040"/>
            <a:ext cx="1737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606040"/>
            <a:ext cx="16459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API Gateway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03120" y="260604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48840" y="260604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3"/>
                </a:solidFill>
              </a:rPr>
              <a:t>KrakenD declarativo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260604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606040"/>
            <a:ext cx="40233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3"/>
                </a:solidFill>
              </a:rPr>
              <a:t>Centraliza rate limit, JWT, CORS sin contaminar los MS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3108960"/>
            <a:ext cx="1737360" cy="502920"/>
          </a:xfrm>
          <a:prstGeom prst="rect">
            <a:avLst/>
          </a:prstGeom>
          <a:solidFill>
            <a:srgbClr val="EEF3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108960"/>
            <a:ext cx="16459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Ingress separado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103120" y="3108960"/>
            <a:ext cx="2560320" cy="502920"/>
          </a:xfrm>
          <a:prstGeom prst="rect">
            <a:avLst/>
          </a:prstGeom>
          <a:solidFill>
            <a:srgbClr val="EEF3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48840" y="310896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3"/>
                </a:solidFill>
              </a:rPr>
              <a:t>Traefik (edge) + KrakenD (API)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3108960"/>
            <a:ext cx="4114800" cy="502920"/>
          </a:xfrm>
          <a:prstGeom prst="rect">
            <a:avLst/>
          </a:prstGeom>
          <a:solidFill>
            <a:srgbClr val="EEF3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108960"/>
            <a:ext cx="40233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3"/>
                </a:solidFill>
              </a:rPr>
              <a:t>TLS/host routing (edge) vs policies de API; patrón estándar en K8s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3611880"/>
            <a:ext cx="1737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3611880"/>
            <a:ext cx="16459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Backend For Frontend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103120" y="361188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48840" y="361188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3"/>
                </a:solidFill>
              </a:rPr>
              <a:t>Node.js + Express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361188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3611880"/>
            <a:ext cx="40233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3"/>
                </a:solidFill>
              </a:rPr>
              <a:t>API tallada a la medida de las pantallas; agregación, orquestación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65760" y="38587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6DA4"/>
                </a:solidFill>
              </a:rPr>
              <a:t>DB-per-Service </a:t>
            </a:r>
            <a:pPr indent="0" marL="0">
              <a:buNone/>
            </a:pPr>
            <a:r>
              <a:rPr lang="en-US" sz="950" dirty="0">
                <a:solidFill>
                  <a:srgbClr val="3D5066"/>
                </a:solidFill>
              </a:rPr>
              <a:t>→ escalado vertical independiente por dominio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65760" y="41148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6DA4"/>
                </a:solidFill>
              </a:rPr>
              <a:t>MS stateless </a:t>
            </a:r>
            <a:pPr indent="0" marL="0">
              <a:buNone/>
            </a:pPr>
            <a:r>
              <a:rPr lang="en-US" sz="950" dirty="0">
                <a:solidFill>
                  <a:srgbClr val="3D5066"/>
                </a:solidFill>
              </a:rPr>
              <a:t>→ escalado horizontal: réplicas detrás de Traefik sin reconfigurar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65760" y="43708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6DA4"/>
                </a:solidFill>
              </a:rPr>
              <a:t>BFF </a:t>
            </a:r>
            <a:pPr indent="0" marL="0">
              <a:buNone/>
            </a:pPr>
            <a:r>
              <a:rPr lang="en-US" sz="950" dirty="0">
                <a:solidFill>
                  <a:srgbClr val="3D5066"/>
                </a:solidFill>
              </a:rPr>
              <a:t>→ 1 round-trip browser→BFF→MS (vs N llamadas directas)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D4"/>
                </a:solidFill>
              </a:rPr>
              <a:t>SmartLogix · EV2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FD4"/>
                </a:solidFill>
              </a:rPr>
              <a:t>DSY1106 Desarrollo Fullstack III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64008" cy="5029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20624"/>
            <a:ext cx="8321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</a:rPr>
              <a:t>4. Patrones de diseño (10+)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9875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8"/>
                </a:solidFill>
              </a:rPr>
              <a:t>Ítem 1 (encargo) + Ítem 5 (defensa)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0"/>
          </a:xfrm>
          <a:prstGeom prst="line">
            <a:avLst/>
          </a:prstGeom>
          <a:noFill/>
          <a:ln w="12700">
            <a:solidFill>
              <a:srgbClr val="D0D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34440"/>
            <a:ext cx="4206240" cy="1005840"/>
          </a:xfrm>
          <a:prstGeom prst="rect">
            <a:avLst/>
          </a:prstGeom>
          <a:solidFill>
            <a:srgbClr val="FFFFFF"/>
          </a:solidFill>
          <a:ln w="8890">
            <a:solidFill>
              <a:srgbClr val="C5D5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234440"/>
            <a:ext cx="73152" cy="100584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" y="1289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</a:rPr>
              <a:t>Repository Pattern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" y="1545336"/>
            <a:ext cx="822960" cy="182880"/>
          </a:xfrm>
          <a:prstGeom prst="rect">
            <a:avLst/>
          </a:prstGeom>
          <a:solidFill>
            <a:srgbClr val="E3EDF8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" y="15453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6DA4"/>
                </a:solidFill>
              </a:rPr>
              <a:t>Datos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48056" y="175564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066"/>
                </a:solidFill>
              </a:rPr>
              <a:t>Interfaces Spring Data JPA. El service no sabe si vienen de JPA, JDBC o mock → tests triviales.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350008"/>
            <a:ext cx="4206240" cy="1005840"/>
          </a:xfrm>
          <a:prstGeom prst="rect">
            <a:avLst/>
          </a:prstGeom>
          <a:solidFill>
            <a:srgbClr val="FFFFFF"/>
          </a:solidFill>
          <a:ln w="8890">
            <a:solidFill>
              <a:srgbClr val="C5D5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350008"/>
            <a:ext cx="73152" cy="100584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" y="2404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</a:rPr>
              <a:t>Service Layer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8056" y="2660904"/>
            <a:ext cx="822960" cy="182880"/>
          </a:xfrm>
          <a:prstGeom prst="rect">
            <a:avLst/>
          </a:prstGeom>
          <a:solidFill>
            <a:srgbClr val="E3EDF8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" y="266090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6DA4"/>
                </a:solidFill>
              </a:rPr>
              <a:t>Negocio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48056" y="287121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066"/>
                </a:solidFill>
              </a:rPr>
              <a:t>Separa qué hace el negocio de cómo lo hace. Lógica de estados, totales y validaciones aquí.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3465576"/>
            <a:ext cx="4206240" cy="1005840"/>
          </a:xfrm>
          <a:prstGeom prst="rect">
            <a:avLst/>
          </a:prstGeom>
          <a:solidFill>
            <a:srgbClr val="FFFFFF"/>
          </a:solidFill>
          <a:ln w="8890">
            <a:solidFill>
              <a:srgbClr val="C5D5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465576"/>
            <a:ext cx="73152" cy="100584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4" name="Text 22"/>
          <p:cNvSpPr/>
          <p:nvPr/>
        </p:nvSpPr>
        <p:spPr>
          <a:xfrm>
            <a:off x="448056" y="3520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</a:rPr>
              <a:t>DTO Pattern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8056" y="3776472"/>
            <a:ext cx="822960" cy="182880"/>
          </a:xfrm>
          <a:prstGeom prst="rect">
            <a:avLst/>
          </a:prstGeom>
          <a:solidFill>
            <a:srgbClr val="E3EDF8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" y="37764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6DA4"/>
                </a:solidFill>
              </a:rPr>
              <a:t>Contrato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48056" y="398678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066"/>
                </a:solidFill>
              </a:rPr>
              <a:t>Java records inmutables con from(Entity). Evita filtrar entidades JPA al JSON. Bean Validation.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09160" y="1234440"/>
            <a:ext cx="4206240" cy="1005840"/>
          </a:xfrm>
          <a:prstGeom prst="rect">
            <a:avLst/>
          </a:prstGeom>
          <a:solidFill>
            <a:srgbClr val="FFFFFF"/>
          </a:solidFill>
          <a:ln w="8890">
            <a:solidFill>
              <a:srgbClr val="C5D5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1234440"/>
            <a:ext cx="73152" cy="100584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0" name="Text 28"/>
          <p:cNvSpPr/>
          <p:nvPr/>
        </p:nvSpPr>
        <p:spPr>
          <a:xfrm>
            <a:off x="4837176" y="1289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</a:rPr>
              <a:t>State Machine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37176" y="1545336"/>
            <a:ext cx="822960" cy="182880"/>
          </a:xfrm>
          <a:prstGeom prst="rect">
            <a:avLst/>
          </a:prstGeom>
          <a:solidFill>
            <a:srgbClr val="E3EDF8"/>
          </a:solidFill>
          <a:ln/>
        </p:spPr>
      </p:sp>
      <p:sp>
        <p:nvSpPr>
          <p:cNvPr id="32" name="Text 30"/>
          <p:cNvSpPr/>
          <p:nvPr/>
        </p:nvSpPr>
        <p:spPr>
          <a:xfrm>
            <a:off x="4837176" y="15453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6DA4"/>
                </a:solidFill>
              </a:rPr>
              <a:t>Concurrencia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37176" y="175564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066"/>
                </a:solidFill>
              </a:rPr>
              <a:t>Transiciones como datos (Map&lt;Estado, Set&lt;Estado&gt;&gt;). Transición ilegal → HTTP 409.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09160" y="2350008"/>
            <a:ext cx="4206240" cy="1005840"/>
          </a:xfrm>
          <a:prstGeom prst="rect">
            <a:avLst/>
          </a:prstGeom>
          <a:solidFill>
            <a:srgbClr val="FFFFFF"/>
          </a:solidFill>
          <a:ln w="8890">
            <a:solidFill>
              <a:srgbClr val="C5D5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350008"/>
            <a:ext cx="73152" cy="100584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6" name="Text 34"/>
          <p:cNvSpPr/>
          <p:nvPr/>
        </p:nvSpPr>
        <p:spPr>
          <a:xfrm>
            <a:off x="4837176" y="2404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</a:rPr>
              <a:t>Optimistic Locking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37176" y="2660904"/>
            <a:ext cx="822960" cy="182880"/>
          </a:xfrm>
          <a:prstGeom prst="rect">
            <a:avLst/>
          </a:prstGeom>
          <a:solidFill>
            <a:srgbClr val="E3EDF8"/>
          </a:solidFill>
          <a:ln/>
        </p:spPr>
      </p:sp>
      <p:sp>
        <p:nvSpPr>
          <p:cNvPr id="38" name="Text 36"/>
          <p:cNvSpPr/>
          <p:nvPr/>
        </p:nvSpPr>
        <p:spPr>
          <a:xfrm>
            <a:off x="4837176" y="266090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6DA4"/>
                </a:solidFill>
              </a:rPr>
              <a:t>Concurrencia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37176" y="287121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066"/>
                </a:solidFill>
              </a:rPr>
              <a:t>@Version en Stock. Sin bloquear lectores → alto throughput, consistencia preservada.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09160" y="3465576"/>
            <a:ext cx="4206240" cy="1005840"/>
          </a:xfrm>
          <a:prstGeom prst="rect">
            <a:avLst/>
          </a:prstGeom>
          <a:solidFill>
            <a:srgbClr val="FFFFFF"/>
          </a:solidFill>
          <a:ln w="8890">
            <a:solidFill>
              <a:srgbClr val="C5D5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465576"/>
            <a:ext cx="73152" cy="100584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2" name="Text 40"/>
          <p:cNvSpPr/>
          <p:nvPr/>
        </p:nvSpPr>
        <p:spPr>
          <a:xfrm>
            <a:off x="4837176" y="3520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</a:rPr>
              <a:t>Saga + Circuit Breaker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837176" y="3776472"/>
            <a:ext cx="822960" cy="182880"/>
          </a:xfrm>
          <a:prstGeom prst="rect">
            <a:avLst/>
          </a:prstGeom>
          <a:solidFill>
            <a:srgbClr val="E3EDF8"/>
          </a:solidFill>
          <a:ln/>
        </p:spPr>
      </p:sp>
      <p:sp>
        <p:nvSpPr>
          <p:cNvPr id="44" name="Text 42"/>
          <p:cNvSpPr/>
          <p:nvPr/>
        </p:nvSpPr>
        <p:spPr>
          <a:xfrm>
            <a:off x="4837176" y="37764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6DA4"/>
                </a:solidFill>
              </a:rPr>
              <a:t>Resiliencia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837176" y="398678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066"/>
                </a:solidFill>
              </a:rPr>
              <a:t>BFF checkoutService con compensaciones. AbortController 5 s; fallos parciales tolerados.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20040" y="487375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ADD4"/>
                </a:solidFill>
              </a:rPr>
              <a:t>→ Más de 10 patrones aplicados. Ver docs/analisis-patrones-arquetipos.pdf §3 para detalles.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D4"/>
                </a:solidFill>
              </a:rPr>
              <a:t>SmartLogix · EV2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FD4"/>
                </a:solidFill>
              </a:rPr>
              <a:t>DSY1106 Desarrollo Fullstack III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64008" cy="5029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20624"/>
            <a:ext cx="8321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</a:rPr>
              <a:t>5. Arquetipo: Gradle como template reutilizable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9875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8"/>
                </a:solidFill>
              </a:rPr>
              <a:t>Ítems 2 + 6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0"/>
          </a:xfrm>
          <a:prstGeom prst="line">
            <a:avLst/>
          </a:prstGeom>
          <a:noFill/>
          <a:ln w="12700">
            <a:solidFill>
              <a:srgbClr val="D0D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98448"/>
            <a:ext cx="347472" cy="3474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" y="129844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</a:rPr>
              <a:t>Spring Initializr es el arquetipo oficial </a:t>
            </a:r>
            <a:pPr indent="0" marL="0">
              <a:buNone/>
            </a:pPr>
            <a:r>
              <a:rPr lang="en-US" sz="1050" dirty="0">
                <a:solidFill>
                  <a:srgbClr val="1A2533"/>
                </a:solidFill>
              </a:rPr>
              <a:t>start.spring.io emite proyectos Gradle por defecto. Reemplazo moderno de mvn archetype:generate.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1892808"/>
            <a:ext cx="347472" cy="3474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189280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</a:rPr>
              <a:t>Performance </a:t>
            </a:r>
            <a:pPr indent="0" marL="0">
              <a:buNone/>
            </a:pPr>
            <a:r>
              <a:rPr lang="en-US" sz="1050" dirty="0">
                <a:solidFill>
                  <a:srgbClr val="1A2533"/>
                </a:solidFill>
              </a:rPr>
              <a:t>./gradlew bootJar toma ~30 s/MS vs 60–90 s con Maven.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487168"/>
            <a:ext cx="347472" cy="3474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248716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</a:rPr>
              <a:t>Consistencia </a:t>
            </a:r>
            <a:pPr indent="0" marL="0">
              <a:buNone/>
            </a:pPr>
            <a:r>
              <a:rPr lang="en-US" sz="1050" dirty="0">
                <a:solidFill>
                  <a:srgbClr val="1A2533"/>
                </a:solidFill>
              </a:rPr>
              <a:t>Los 3 build.gradle son idénticos en estructura → plantilla copy-paste garantiza uniformidad.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081528"/>
            <a:ext cx="347472" cy="3474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081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" y="308152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</a:rPr>
              <a:t>DSL declarativo </a:t>
            </a:r>
            <a:pPr indent="0" marL="0">
              <a:buNone/>
            </a:pPr>
            <a:r>
              <a:rPr lang="en-US" sz="1050" dirty="0">
                <a:solidFill>
                  <a:srgbClr val="1A2533"/>
                </a:solidFill>
              </a:rPr>
              <a:t>Más legible que XML. Menos boilerplate.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749040"/>
            <a:ext cx="8412480" cy="64008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749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Crear un MS nuevo desde el template: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-r backend/microservices/ms-pedido backend/microservices/ms-nuevo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Renombrar package + settings.gradle. Listo.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4480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3B8"/>
                </a:solidFill>
              </a:rPr>
              <a:t>Plan B: si la rúbrica exige Maven literal → mvn archetype:create-from-project desde un MS de referencia. ~1–2 h. Documentado en el PDF.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D4"/>
                </a:solidFill>
              </a:rPr>
              <a:t>SmartLogix · EV2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FD4"/>
                </a:solidFill>
              </a:rPr>
              <a:t>DSY1106 Desarrollo Fullstack III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64008" cy="5029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20624"/>
            <a:ext cx="8321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</a:rPr>
              <a:t>6. Estrategia de branching — GitFlow simplificado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9875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8"/>
                </a:solidFill>
              </a:rPr>
              <a:t>Ítem 3 + Ítem 7 (defensa) · 5% + 15%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0"/>
          </a:xfrm>
          <a:prstGeom prst="line">
            <a:avLst/>
          </a:prstGeom>
          <a:noFill/>
          <a:ln w="12700">
            <a:solidFill>
              <a:srgbClr val="D0D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17320"/>
            <a:ext cx="100584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417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main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71600" y="1563624"/>
            <a:ext cx="7132320" cy="0"/>
          </a:xfrm>
          <a:prstGeom prst="line">
            <a:avLst/>
          </a:prstGeom>
          <a:noFill/>
          <a:ln w="2540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03120"/>
            <a:ext cx="1005840" cy="2926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1031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develop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71600" y="2249424"/>
            <a:ext cx="713232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788920"/>
            <a:ext cx="1005840" cy="292608"/>
          </a:xfrm>
          <a:prstGeom prst="rect">
            <a:avLst/>
          </a:prstGeom>
          <a:solidFill>
            <a:srgbClr val="C67C0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7889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feature/*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71600" y="2935224"/>
            <a:ext cx="7132320" cy="0"/>
          </a:xfrm>
          <a:prstGeom prst="line">
            <a:avLst/>
          </a:prstGeom>
          <a:noFill/>
          <a:ln w="25400">
            <a:solidFill>
              <a:srgbClr val="C67C0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65760" y="3154680"/>
            <a:ext cx="73152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154680"/>
            <a:ext cx="7315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97280" y="3154680"/>
            <a:ext cx="256032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3154680"/>
            <a:ext cx="25603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Rama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0" y="3154680"/>
            <a:ext cx="49377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0" y="3154680"/>
            <a:ext cx="493776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Contenido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447288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447288"/>
            <a:ext cx="6400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3"/>
                </a:solidFill>
              </a:rPr>
              <a:t>#1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097280" y="3447288"/>
            <a:ext cx="2560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3447288"/>
            <a:ext cx="24688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3"/>
                </a:solidFill>
              </a:rPr>
              <a:t>feature/improvement-pedido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0" y="3447288"/>
            <a:ext cx="49377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3447288"/>
            <a:ext cx="48463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3"/>
                </a:solidFill>
              </a:rPr>
              <a:t>Mejoras de dominio en ms-pedido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739896"/>
            <a:ext cx="731520" cy="292608"/>
          </a:xfrm>
          <a:prstGeom prst="rect">
            <a:avLst/>
          </a:prstGeom>
          <a:solidFill>
            <a:srgbClr val="EEF3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739896"/>
            <a:ext cx="6400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3"/>
                </a:solidFill>
              </a:rPr>
              <a:t>#2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097280" y="3739896"/>
            <a:ext cx="2560320" cy="292608"/>
          </a:xfrm>
          <a:prstGeom prst="rect">
            <a:avLst/>
          </a:prstGeom>
          <a:solidFill>
            <a:srgbClr val="EEF3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43000" y="3739896"/>
            <a:ext cx="24688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3"/>
                </a:solidFill>
              </a:rPr>
              <a:t>feature/frontend-setup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0" y="3739896"/>
            <a:ext cx="4937760" cy="292608"/>
          </a:xfrm>
          <a:prstGeom prst="rect">
            <a:avLst/>
          </a:prstGeom>
          <a:solidFill>
            <a:srgbClr val="EEF3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03320" y="3739896"/>
            <a:ext cx="48463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3"/>
                </a:solidFill>
              </a:rPr>
              <a:t>Setup inicial Frontend React 19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4032504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032504"/>
            <a:ext cx="6400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3"/>
                </a:solidFill>
              </a:rPr>
              <a:t>#4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097280" y="4032504"/>
            <a:ext cx="2560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43000" y="4032504"/>
            <a:ext cx="24688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3"/>
                </a:solidFill>
              </a:rPr>
              <a:t>feature/improvement-pedido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57600" y="4032504"/>
            <a:ext cx="49377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03320" y="4032504"/>
            <a:ext cx="48463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3"/>
                </a:solidFill>
              </a:rPr>
              <a:t>DTOs + state machine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4325112"/>
            <a:ext cx="731520" cy="292608"/>
          </a:xfrm>
          <a:prstGeom prst="rect">
            <a:avLst/>
          </a:prstGeom>
          <a:solidFill>
            <a:srgbClr val="EEF3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325112"/>
            <a:ext cx="6400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3"/>
                </a:solidFill>
              </a:rPr>
              <a:t>#5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097280" y="4325112"/>
            <a:ext cx="2560320" cy="292608"/>
          </a:xfrm>
          <a:prstGeom prst="rect">
            <a:avLst/>
          </a:prstGeom>
          <a:solidFill>
            <a:srgbClr val="EEF3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43000" y="4325112"/>
            <a:ext cx="24688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3"/>
                </a:solidFill>
              </a:rPr>
              <a:t>feature/frontend-backend-integration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57600" y="4325112"/>
            <a:ext cx="4937760" cy="292608"/>
          </a:xfrm>
          <a:prstGeom prst="rect">
            <a:avLst/>
          </a:prstGeom>
          <a:solidFill>
            <a:srgbClr val="EEF3F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03320" y="4325112"/>
            <a:ext cx="48463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3"/>
                </a:solidFill>
              </a:rPr>
              <a:t>apiClient + 5 pages conectadas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65760" y="48737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ADD4"/>
                </a:solidFill>
              </a:rPr>
              <a:t>Conventional Commits (feat:, fix:, test:, docs:) · PRs con merge commit · rebase con develop cada 2–3 días minimiza conflictos.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FD4"/>
                </a:solidFill>
              </a:rPr>
              <a:t>SmartLogix · EV2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FD4"/>
                </a:solidFill>
              </a:rPr>
              <a:t>DSY1106 Desarrollo Fullstack III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64008" cy="5029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20624"/>
            <a:ext cx="8321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</a:rPr>
              <a:t>7. Pruebas y cobertura — JaCoCo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9875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8"/>
                </a:solidFill>
              </a:rPr>
              <a:t>Ítem 4 (encargo) + Ítem 8 (defensa) · 5% + 15%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0"/>
          </a:xfrm>
          <a:prstGeom prst="line">
            <a:avLst/>
          </a:prstGeom>
          <a:noFill/>
          <a:ln w="12700">
            <a:solidFill>
              <a:srgbClr val="D0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344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066"/>
                </a:solidFill>
              </a:rPr>
              <a:t>Stack de testing: JUnit 5 · Mockito · Spring @WebMvcTest con @MockitoBean · JaCoCo 0.8.14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6276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ms-pedido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0" y="1682496"/>
            <a:ext cx="5029200" cy="201168"/>
          </a:xfrm>
          <a:prstGeom prst="rect">
            <a:avLst/>
          </a:prstGeom>
          <a:solidFill>
            <a:srgbClr val="E8EFF5"/>
          </a:solidFill>
          <a:ln/>
        </p:spPr>
      </p:sp>
      <p:sp>
        <p:nvSpPr>
          <p:cNvPr id="13" name="Shape 11"/>
          <p:cNvSpPr/>
          <p:nvPr/>
        </p:nvSpPr>
        <p:spPr>
          <a:xfrm>
            <a:off x="1828800" y="1682496"/>
            <a:ext cx="4420667" cy="20116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162763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A"/>
                </a:solidFill>
              </a:rPr>
              <a:t>87.9%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35240" y="16276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3B8"/>
                </a:solidFill>
              </a:rPr>
              <a:t>Muy bueno (≥80%)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21945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ms-inventario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0" y="2249424"/>
            <a:ext cx="5029200" cy="201168"/>
          </a:xfrm>
          <a:prstGeom prst="rect">
            <a:avLst/>
          </a:prstGeom>
          <a:solidFill>
            <a:srgbClr val="E8EFF5"/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0" y="2249424"/>
            <a:ext cx="3696462" cy="201168"/>
          </a:xfrm>
          <a:prstGeom prst="rect">
            <a:avLst/>
          </a:prstGeom>
          <a:solidFill>
            <a:srgbClr val="2565AE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219456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5AE"/>
                </a:solidFill>
              </a:rPr>
              <a:t>73.5%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35240" y="21945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3B8"/>
                </a:solidFill>
              </a:rPr>
              <a:t>Bueno (≥70%)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" y="276148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ms-envio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0" y="2816352"/>
            <a:ext cx="5029200" cy="201168"/>
          </a:xfrm>
          <a:prstGeom prst="rect">
            <a:avLst/>
          </a:prstGeom>
          <a:solidFill>
            <a:srgbClr val="E8EF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828800" y="2816352"/>
            <a:ext cx="3515411" cy="201168"/>
          </a:xfrm>
          <a:prstGeom prst="rect">
            <a:avLst/>
          </a:prstGeom>
          <a:solidFill>
            <a:srgbClr val="C67C00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276148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7C00"/>
                </a:solidFill>
              </a:rPr>
              <a:t>69.9%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35240" y="276148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3B8"/>
                </a:solidFill>
              </a:rPr>
              <a:t>Bueno (≥60%)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3401568"/>
            <a:ext cx="8412480" cy="256032"/>
          </a:xfrm>
          <a:prstGeom prst="rect">
            <a:avLst/>
          </a:prstGeom>
          <a:solidFill>
            <a:srgbClr val="EEF3F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4015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Niveles de test: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02336" y="3840480"/>
            <a:ext cx="109728" cy="109728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29" name="Text 27"/>
          <p:cNvSpPr/>
          <p:nvPr/>
        </p:nvSpPr>
        <p:spPr>
          <a:xfrm>
            <a:off x="585216" y="3749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</a:rPr>
              <a:t>Service tests (@ExtendWith(MockitoExtension.class)) — </a:t>
            </a:r>
            <a:pPr indent="0" marL="0">
              <a:buNone/>
            </a:pPr>
            <a:r>
              <a:rPr lang="en-US" sz="950" dirty="0">
                <a:solidFill>
                  <a:srgbClr val="1A2533"/>
                </a:solidFill>
              </a:rPr>
              <a:t>Lógica de máquina de estados, cálculo de totales, optimistic locking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02336" y="4224528"/>
            <a:ext cx="109728" cy="109728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31" name="Text 29"/>
          <p:cNvSpPr/>
          <p:nvPr/>
        </p:nvSpPr>
        <p:spPr>
          <a:xfrm>
            <a:off x="585216" y="41330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</a:rPr>
              <a:t>Controller tests (@WebMvcTest) — </a:t>
            </a:r>
            <a:pPr indent="0" marL="0">
              <a:buNone/>
            </a:pPr>
            <a:r>
              <a:rPr lang="en-US" sz="950" dirty="0">
                <a:solidFill>
                  <a:srgbClr val="1A2533"/>
                </a:solidFill>
              </a:rPr>
              <a:t>Happy paths, validation 400, ResponseStatusException 404/409, GlobalExceptionHandler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4572000"/>
            <a:ext cx="8412480" cy="292608"/>
          </a:xfrm>
          <a:prstGeom prst="rect">
            <a:avLst/>
          </a:prstGeom>
          <a:solidFill>
            <a:srgbClr val="E8F5E9"/>
          </a:solidFill>
          <a:ln w="10160">
            <a:solidFill>
              <a:srgbClr val="A5C8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5720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</a:rPr>
              <a:t>54 tests nuevos en 6 archivos de controller tests, todos verdes · rama feature/tests-unitarios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2284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8. Conclusiones y próximos pasos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19050">
            <a:solidFill>
              <a:srgbClr val="2E6D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713232"/>
            <a:ext cx="256032" cy="25603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713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71323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DEF"/>
                </a:solidFill>
              </a:rPr>
              <a:t>5 patrones arquitectónicos (Microservicios, DB-per-Service, API Gateway, Ingress separado, BFF) con justificación de problema.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133856"/>
            <a:ext cx="256032" cy="25603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133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6112" y="113385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DEF"/>
                </a:solidFill>
              </a:rPr>
              <a:t>10+ patrones de diseño con motivación técnica concreta (no por checklist).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1554480"/>
            <a:ext cx="256032" cy="25603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554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96112" y="15544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DEF"/>
                </a:solidFill>
              </a:rPr>
              <a:t>GitFlow simplificado: 5 ramas de feature, 4 PRs mergeados, conflictos documentados.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1975104"/>
            <a:ext cx="256032" cy="25603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975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96112" y="197510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DEF"/>
                </a:solidFill>
              </a:rPr>
              <a:t>Cobertura 70–88% en los 3 MS con JaCoCo · service layer y controladores cubiertos.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395728"/>
            <a:ext cx="256032" cy="25603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395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96112" y="239572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DEF"/>
                </a:solidFill>
              </a:rPr>
              <a:t>Arquetipo Gradle defendido técnicamente — Plan B Maven documentado.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28986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C8E3"/>
                </a:solidFill>
              </a:rPr>
              <a:t>Próximos pasos: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2004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FD4"/>
                </a:solidFill>
              </a:rPr>
              <a:t>→ Activar JWT real (Auth0/Keycloak) en KrakenD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34747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FD4"/>
                </a:solidFill>
              </a:rPr>
              <a:t>→ HTTPS automático (Let's Encrypt en Traefik)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374904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FD4"/>
                </a:solidFill>
              </a:rPr>
              <a:t>→ Resilience4j en los MS (hoy el BFF tiene equivalente lite)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0233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FD4"/>
                </a:solidFill>
              </a:rPr>
              <a:t>→ Mergear feature/tests-unitarios a main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77316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7FA5"/>
                </a:solidFill>
              </a:rPr>
              <a:t>SmartLogix · EV2  |  DSY1106 Desarrollo Fullstack III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SmartLogix EV2</dc:title>
  <dc:subject>PptxGenJS Presentation</dc:subject>
  <dc:creator>PptxGenJS</dc:creator>
  <cp:lastModifiedBy>PptxGenJS</cp:lastModifiedBy>
  <cp:revision>1</cp:revision>
  <dcterms:created xsi:type="dcterms:W3CDTF">2026-05-16T04:40:18Z</dcterms:created>
  <dcterms:modified xsi:type="dcterms:W3CDTF">2026-05-16T04:40:18Z</dcterms:modified>
</cp:coreProperties>
</file>